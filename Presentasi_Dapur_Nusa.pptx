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B4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DC6428"/>
                </a:solidFill>
              </a:defRPr>
            </a:pPr>
            <a:r>
              <a:t>PORTAL KULINER &amp; RESEP MASAKAN NUSANTARA</a:t>
            </a:r>
          </a:p>
          <a:p>
            <a:pPr>
              <a:spcAft>
                <a:spcPts val="1400"/>
              </a:spcAft>
              <a:defRPr sz="4400" b="1">
                <a:solidFill>
                  <a:srgbClr val="78190A"/>
                </a:solidFill>
              </a:defRPr>
            </a:pPr>
            <a:r>
              <a:t>🍳 DAPUR NUSA</a:t>
            </a:r>
          </a:p>
          <a:p>
            <a:pPr>
              <a:spcAft>
                <a:spcPts val="2400"/>
              </a:spcAft>
              <a:defRPr sz="2000">
                <a:solidFill>
                  <a:srgbClr val="231F20"/>
                </a:solidFill>
              </a:defRPr>
            </a:pPr>
            <a:r>
              <a:t>Aplikasi Web Resep Masakan Nusantara Modern berbasis DATH Stack</a:t>
            </a:r>
            <a:br/>
            <a:r>
              <a:t>(Django 5.2 • Alpine.js 3 • Tailwind CSS • HTMX 2)</a:t>
            </a:r>
          </a:p>
          <a:p>
            <a:pPr>
              <a:defRPr sz="1300">
                <a:solidFill>
                  <a:srgbClr val="646469"/>
                </a:solidFill>
              </a:defRPr>
            </a:pPr>
            <a:r>
              <a:t>Material Design 3 • Arsitektur HTML-over-the-Wire • Sistem Teruji &amp; Tervalidasi Penuh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C6428"/>
                </a:solidFill>
              </a:defRPr>
            </a:pPr>
            <a:r>
              <a:t>DAPUR NUSA • PROYEK WEB RESEP NUSANTARA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78190A"/>
                </a:solidFill>
              </a:defRPr>
            </a:pPr>
            <a:r>
              <a:t>Latar Belakang &amp; Visi Proyek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64992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364992" cy="109728"/>
          </a:xfrm>
          <a:prstGeom prst="rect">
            <a:avLst/>
          </a:prstGeom>
          <a:solidFill>
            <a:srgbClr val="B4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290779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B43214"/>
                </a:solidFill>
              </a:defRPr>
            </a:pPr>
            <a:r>
              <a:t>Tantangan Kuliner Tradisional</a:t>
            </a:r>
          </a:p>
          <a:p>
            <a:pPr>
              <a:spcAft>
                <a:spcPts val="800"/>
              </a:spcAft>
              <a:defRPr sz="1300">
                <a:solidFill>
                  <a:srgbClr val="231F20"/>
                </a:solidFill>
              </a:defRPr>
            </a:pPr>
            <a:r>
              <a:t>• Resep nusantara tersebar tidak terstruktur &amp; seringkali tanpa takaran baku.</a:t>
            </a:r>
          </a:p>
          <a:p>
            <a:pPr>
              <a:spcAft>
                <a:spcPts val="800"/>
              </a:spcAft>
              <a:defRPr sz="1300">
                <a:solidFill>
                  <a:srgbClr val="231F20"/>
                </a:solidFill>
              </a:defRPr>
            </a:pPr>
            <a:r>
              <a:t>• Aplikasi memasak konvensional terasa berat (heavy SPA) dan lambat di perangkat standar.</a:t>
            </a:r>
          </a:p>
          <a:p>
            <a:pPr>
              <a:spcAft>
                <a:spcPts val="800"/>
              </a:spcAft>
              <a:defRPr sz="1300">
                <a:solidFill>
                  <a:srgbClr val="231F20"/>
                </a:solidFill>
              </a:defRPr>
            </a:pPr>
            <a:r>
              <a:t>• Kurangnya fitur interaktif pendukung seperti kalkulator porsi dinamis &amp; daftar belanja.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7" y="1463040"/>
            <a:ext cx="3364992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07407" y="1463040"/>
            <a:ext cx="3364992" cy="109728"/>
          </a:xfrm>
          <a:prstGeom prst="rect">
            <a:avLst/>
          </a:prstGeom>
          <a:solidFill>
            <a:srgbClr val="DC6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737360"/>
            <a:ext cx="290779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DC6428"/>
                </a:solidFill>
              </a:defRPr>
            </a:pPr>
            <a:r>
              <a:t>Solusi: Dapur Nusa</a:t>
            </a:r>
          </a:p>
          <a:p>
            <a:pPr>
              <a:spcAft>
                <a:spcPts val="800"/>
              </a:spcAft>
              <a:defRPr sz="1300">
                <a:solidFill>
                  <a:srgbClr val="231F20"/>
                </a:solidFill>
              </a:defRPr>
            </a:pPr>
            <a:r>
              <a:t>• Platform terpadu katalog resep nusantara dengan takaran, langkah rinci &amp; gizi.</a:t>
            </a:r>
          </a:p>
          <a:p>
            <a:pPr>
              <a:spcAft>
                <a:spcPts val="800"/>
              </a:spcAft>
              <a:defRPr sz="1300">
                <a:solidFill>
                  <a:srgbClr val="231F20"/>
                </a:solidFill>
              </a:defRPr>
            </a:pPr>
            <a:r>
              <a:t>• Arsitektur DATH Stack: cepat, ringan, responsif tanpa overhead framework JavaScript raksasa.</a:t>
            </a:r>
          </a:p>
          <a:p>
            <a:pPr>
              <a:spcAft>
                <a:spcPts val="800"/>
              </a:spcAft>
              <a:defRPr sz="1300">
                <a:solidFill>
                  <a:srgbClr val="231F20"/>
                </a:solidFill>
              </a:defRPr>
            </a:pPr>
            <a:r>
              <a:t>• Integrasi fitur komunitas dengan kurasi ketat melalui moderasi admin.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463040"/>
            <a:ext cx="3364992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83296" y="1463040"/>
            <a:ext cx="3364992" cy="10972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11896" y="1737360"/>
            <a:ext cx="290779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976D2"/>
                </a:solidFill>
              </a:defRPr>
            </a:pPr>
            <a:r>
              <a:t>Tujuan &amp; Dampak</a:t>
            </a:r>
          </a:p>
          <a:p>
            <a:pPr>
              <a:spcAft>
                <a:spcPts val="800"/>
              </a:spcAft>
              <a:defRPr sz="1300">
                <a:solidFill>
                  <a:srgbClr val="231F20"/>
                </a:solidFill>
              </a:defRPr>
            </a:pPr>
            <a:r>
              <a:t>• Melestarikan warisan resep otentik dari Sabang sampai Merauke.</a:t>
            </a:r>
          </a:p>
          <a:p>
            <a:pPr>
              <a:spcAft>
                <a:spcPts val="800"/>
              </a:spcAft>
              <a:defRPr sz="1300">
                <a:solidFill>
                  <a:srgbClr val="231F20"/>
                </a:solidFill>
              </a:defRPr>
            </a:pPr>
            <a:r>
              <a:t>• Memudahkan ibu rumah tangga, koki rumahan, dan pemula memasak resep tradisional.</a:t>
            </a:r>
          </a:p>
          <a:p>
            <a:pPr>
              <a:spcAft>
                <a:spcPts val="800"/>
              </a:spcAft>
              <a:defRPr sz="1300">
                <a:solidFill>
                  <a:srgbClr val="231F20"/>
                </a:solidFill>
              </a:defRPr>
            </a:pPr>
            <a:r>
              <a:t>• Memberikan pengalaman web interaktif sekelas Single Page App tapi tetap SEO-friendly.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C6428"/>
                </a:solidFill>
              </a:defRPr>
            </a:pPr>
            <a:r>
              <a:t>ARSITEKTUR &amp; TEKNOLOGI MODERN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78190A"/>
                </a:solidFill>
              </a:defRPr>
            </a:pPr>
            <a:r>
              <a:t>Arsitektur Teknologi: DATH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43214"/>
                </a:solidFill>
              </a:defRPr>
            </a:pPr>
            <a:r>
              <a:t>Django 5.2</a:t>
            </a:r>
          </a:p>
          <a:p>
            <a:pPr>
              <a:spcAft>
                <a:spcPts val="800"/>
              </a:spcAft>
              <a:defRPr sz="1200" b="1">
                <a:solidFill>
                  <a:srgbClr val="DC6428"/>
                </a:solidFill>
              </a:defRPr>
            </a:pPr>
            <a:r>
              <a:t>Core Backend &amp; Security</a:t>
            </a:r>
          </a:p>
          <a:p>
            <a:pPr>
              <a:defRPr sz="1200">
                <a:solidFill>
                  <a:srgbClr val="231F20"/>
                </a:solidFill>
              </a:defRPr>
            </a:pPr>
            <a:r>
              <a:t>Python 3.14/3.12 framework tangguh dengan ORM handal, built-in Authentication, CSRF protection, dan template engine teruji.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52578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9164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43214"/>
                </a:solidFill>
              </a:defRPr>
            </a:pPr>
            <a:r>
              <a:t>Alpine.js 3.x</a:t>
            </a:r>
          </a:p>
          <a:p>
            <a:pPr>
              <a:spcAft>
                <a:spcPts val="800"/>
              </a:spcAft>
              <a:defRPr sz="1200" b="1">
                <a:solidFill>
                  <a:srgbClr val="DC6428"/>
                </a:solidFill>
              </a:defRPr>
            </a:pPr>
            <a:r>
              <a:t>Client-side Micro Reactivity</a:t>
            </a:r>
          </a:p>
          <a:p>
            <a:pPr>
              <a:defRPr sz="1200">
                <a:solidFill>
                  <a:srgbClr val="231F20"/>
                </a:solidFill>
              </a:defRPr>
            </a:pPr>
            <a:r>
              <a:t>Mengelola reaktivitas UI lokal (modal pop-up, dropdown, slider porsi real-time) langsung di markup HTML tanpa kompilasi.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86200"/>
            <a:ext cx="52578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1480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43214"/>
                </a:solidFill>
              </a:defRPr>
            </a:pPr>
            <a:r>
              <a:t>Tailwind CSS</a:t>
            </a:r>
          </a:p>
          <a:p>
            <a:pPr>
              <a:spcAft>
                <a:spcPts val="800"/>
              </a:spcAft>
              <a:defRPr sz="1200" b="1">
                <a:solidFill>
                  <a:srgbClr val="DC6428"/>
                </a:solidFill>
              </a:defRPr>
            </a:pPr>
            <a:r>
              <a:t>Material Design 3 Styling</a:t>
            </a:r>
          </a:p>
          <a:p>
            <a:pPr>
              <a:defRPr sz="1200">
                <a:solidFill>
                  <a:srgbClr val="231F20"/>
                </a:solidFill>
              </a:defRPr>
            </a:pPr>
            <a:r>
              <a:t>Framework utility-first dengan palet warna kuliner yang hangat, sistem grid responsif, typography jelas, dan layout mobile-friendly.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886200"/>
            <a:ext cx="52578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11480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43214"/>
                </a:solidFill>
              </a:defRPr>
            </a:pPr>
            <a:r>
              <a:t>HTMX 2.x</a:t>
            </a:r>
          </a:p>
          <a:p>
            <a:pPr>
              <a:spcAft>
                <a:spcPts val="800"/>
              </a:spcAft>
              <a:defRPr sz="1200" b="1">
                <a:solidFill>
                  <a:srgbClr val="DC6428"/>
                </a:solidFill>
              </a:defRPr>
            </a:pPr>
            <a:r>
              <a:t>HTML-over-the-Wire</a:t>
            </a:r>
          </a:p>
          <a:p>
            <a:pPr>
              <a:defRPr sz="1200">
                <a:solidFill>
                  <a:srgbClr val="231F20"/>
                </a:solidFill>
              </a:defRPr>
            </a:pPr>
            <a:r>
              <a:t>Interaksi asynchronous AJAX tanpa menulis JavaScript rumit: live search, filter kategori, toggle favorit, dan pagination mulus.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C6428"/>
                </a:solidFill>
              </a:defRPr>
            </a:pPr>
            <a:r>
              <a:t>FITUR APLIKASI • 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78190A"/>
                </a:solidFill>
              </a:defRPr>
            </a:pPr>
            <a:r>
              <a:t>Fitur Unggulan untuk Pengguna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56432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299923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78190A"/>
                </a:solidFill>
              </a:defRPr>
            </a:pPr>
            <a:r>
              <a:t>🔍 Eksplorasi &amp; Filter Cerdas</a:t>
            </a:r>
          </a:p>
          <a:p>
            <a:pPr>
              <a:defRPr sz="1200">
                <a:solidFill>
                  <a:srgbClr val="231F20"/>
                </a:solidFill>
              </a:defRPr>
            </a:pPr>
            <a:r>
              <a:t>Cari resep berdasarkan bahan utama, kategori nusantara, estimasi waktu masak, dan level kesulitan secara instan via HTMX.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463040"/>
            <a:ext cx="3456432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1691640"/>
            <a:ext cx="299923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78190A"/>
                </a:solidFill>
              </a:defRPr>
            </a:pPr>
            <a:r>
              <a:t>⚖️ Porsi Dinamis (Servings Calculator)</a:t>
            </a:r>
          </a:p>
          <a:p>
            <a:pPr>
              <a:defRPr sz="1200">
                <a:solidFill>
                  <a:srgbClr val="231F20"/>
                </a:solidFill>
              </a:defRPr>
            </a:pPr>
            <a:r>
              <a:t>Porsi piring bisa dinaikkan/diturunkan dengan kalkulasi otomatis jumlah bahan secara proporsional dan presisi.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463040"/>
            <a:ext cx="3456432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38744" y="1691640"/>
            <a:ext cx="299923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78190A"/>
                </a:solidFill>
              </a:defRPr>
            </a:pPr>
            <a:r>
              <a:t>❤️ Favorit &amp; Bookmark Real-time</a:t>
            </a:r>
          </a:p>
          <a:p>
            <a:pPr>
              <a:defRPr sz="1200">
                <a:solidFill>
                  <a:srgbClr val="231F20"/>
                </a:solidFill>
              </a:defRPr>
            </a:pPr>
            <a:r>
              <a:t>Simpan resep favorit dengan sekali klik tanpa refresh halaman penuh menggunakan asynchronous HTMX trigger.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3456432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14800"/>
            <a:ext cx="299923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78190A"/>
                </a:solidFill>
              </a:defRPr>
            </a:pPr>
            <a:r>
              <a:t>🛒 Daftar Belanja (Smart Shopping List)</a:t>
            </a:r>
          </a:p>
          <a:p>
            <a:pPr>
              <a:defRPr sz="1200">
                <a:solidFill>
                  <a:srgbClr val="231F20"/>
                </a:solidFill>
              </a:defRPr>
            </a:pPr>
            <a:r>
              <a:t>Bahan masakan dapat langsung dikirim ke shopping list pribadi dengan penggabungan item otomatis dan status checklist.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3886200"/>
            <a:ext cx="3456432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4114800"/>
            <a:ext cx="299923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78190A"/>
                </a:solidFill>
              </a:defRPr>
            </a:pPr>
            <a:r>
              <a:t>✍️ Kontribusi Resep Komunitas</a:t>
            </a:r>
          </a:p>
          <a:p>
            <a:pPr>
              <a:defRPr sz="1200">
                <a:solidFill>
                  <a:srgbClr val="231F20"/>
                </a:solidFill>
              </a:defRPr>
            </a:pPr>
            <a:r>
              <a:t>Form pembuatan resep lengkap dengan upload foto, formset bahan dinamis, tahapan langkah terurut, dan tips masak.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3886200"/>
            <a:ext cx="3456432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8744" y="4114800"/>
            <a:ext cx="299923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78190A"/>
                </a:solidFill>
              </a:defRPr>
            </a:pPr>
            <a:r>
              <a:t>📊 Ringkasan Estimasi Nutrisi</a:t>
            </a:r>
          </a:p>
          <a:p>
            <a:pPr>
              <a:defRPr sz="1200">
                <a:solidFill>
                  <a:srgbClr val="231F20"/>
                </a:solidFill>
              </a:defRPr>
            </a:pPr>
            <a:r>
              <a:t>Informasi kalori, protein, lemak, dan karbohidrat per porsi untuk membantu pengguna menjaga pola makan sehat.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C6428"/>
                </a:solidFill>
              </a:defRPr>
            </a:pPr>
            <a:r>
              <a:t>MANAJEMEN KONTEN &amp; ROLE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78190A"/>
                </a:solidFill>
              </a:defRPr>
            </a:pPr>
            <a:r>
              <a:t>Sistem Moderasi &amp; Dashboard Admin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64992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364992" cy="109728"/>
          </a:xfrm>
          <a:prstGeom prst="rect">
            <a:avLst/>
          </a:prstGeom>
          <a:solidFill>
            <a:srgbClr val="B4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290779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B43214"/>
                </a:solidFill>
              </a:defRPr>
            </a:pPr>
            <a:r>
              <a:t>Dashboard Statistik</a:t>
            </a:r>
          </a:p>
          <a:p>
            <a:pPr>
              <a:spcAft>
                <a:spcPts val="800"/>
              </a:spcAft>
              <a:defRPr sz="1300">
                <a:solidFill>
                  <a:srgbClr val="231F20"/>
                </a:solidFill>
              </a:defRPr>
            </a:pPr>
            <a:r>
              <a:t>• Total Resep Terdaftar &amp; Publikasi</a:t>
            </a:r>
          </a:p>
          <a:p>
            <a:pPr>
              <a:spcAft>
                <a:spcPts val="800"/>
              </a:spcAft>
              <a:defRPr sz="1300">
                <a:solidFill>
                  <a:srgbClr val="231F20"/>
                </a:solidFill>
              </a:defRPr>
            </a:pPr>
            <a:r>
              <a:t>• Total Pengguna Komunitas Aktif</a:t>
            </a:r>
          </a:p>
          <a:p>
            <a:pPr>
              <a:spcAft>
                <a:spcPts val="800"/>
              </a:spcAft>
              <a:defRPr sz="1300">
                <a:solidFill>
                  <a:srgbClr val="231F20"/>
                </a:solidFill>
              </a:defRPr>
            </a:pPr>
            <a:r>
              <a:t>• Jumlah Resep Pending yang Butuh Review</a:t>
            </a:r>
          </a:p>
          <a:p>
            <a:pPr>
              <a:spcAft>
                <a:spcPts val="800"/>
              </a:spcAft>
              <a:defRPr sz="1300">
                <a:solidFill>
                  <a:srgbClr val="231F20"/>
                </a:solidFill>
              </a:defRPr>
            </a:pPr>
            <a:r>
              <a:t>• Metrik resep paling banyak disukai / difavoritkan.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7" y="1463040"/>
            <a:ext cx="3364992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07407" y="1463040"/>
            <a:ext cx="3364992" cy="109728"/>
          </a:xfrm>
          <a:prstGeom prst="rect">
            <a:avLst/>
          </a:prstGeom>
          <a:solidFill>
            <a:srgbClr val="DC6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737360"/>
            <a:ext cx="290779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DC6428"/>
                </a:solidFill>
              </a:defRPr>
            </a:pPr>
            <a:r>
              <a:t>Workflow Moderasi Ketat</a:t>
            </a:r>
          </a:p>
          <a:p>
            <a:pPr>
              <a:spcAft>
                <a:spcPts val="800"/>
              </a:spcAft>
              <a:defRPr sz="1300">
                <a:solidFill>
                  <a:srgbClr val="231F20"/>
                </a:solidFill>
              </a:defRPr>
            </a:pPr>
            <a:r>
              <a:t>• Resep komunitas masuk status 'PENDING' terlebih dahulu.</a:t>
            </a:r>
          </a:p>
          <a:p>
            <a:pPr>
              <a:spcAft>
                <a:spcPts val="800"/>
              </a:spcAft>
              <a:defRPr sz="1300">
                <a:solidFill>
                  <a:srgbClr val="231F20"/>
                </a:solidFill>
              </a:defRPr>
            </a:pPr>
            <a:r>
              <a:t>• Tombol Setujui (Approve) langsung mempublikasikan ke publik.</a:t>
            </a:r>
          </a:p>
          <a:p>
            <a:pPr>
              <a:spcAft>
                <a:spcPts val="800"/>
              </a:spcAft>
              <a:defRPr sz="1300">
                <a:solidFill>
                  <a:srgbClr val="231F20"/>
                </a:solidFill>
              </a:defRPr>
            </a:pPr>
            <a:r>
              <a:t>• Tombol Tolak (Reject) mewajibkan alasan penolakan (feedback konstruktif kepada pembuat resep).</a:t>
            </a:r>
          </a:p>
          <a:p>
            <a:pPr>
              <a:spcAft>
                <a:spcPts val="800"/>
              </a:spcAft>
              <a:defRPr sz="1300">
                <a:solidFill>
                  <a:srgbClr val="231F20"/>
                </a:solidFill>
              </a:defRPr>
            </a:pPr>
            <a:r>
              <a:t>• Keamanan aksi menggunakan POST request + CSRF token.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463040"/>
            <a:ext cx="3364992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83296" y="1463040"/>
            <a:ext cx="3364992" cy="109728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11896" y="1737360"/>
            <a:ext cx="290779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228B22"/>
                </a:solidFill>
              </a:defRPr>
            </a:pPr>
            <a:r>
              <a:t>Akses &amp; Role-Based Control</a:t>
            </a:r>
          </a:p>
          <a:p>
            <a:pPr>
              <a:spcAft>
                <a:spcPts val="800"/>
              </a:spcAft>
              <a:defRPr sz="1300">
                <a:solidFill>
                  <a:srgbClr val="231F20"/>
                </a:solidFill>
              </a:defRPr>
            </a:pPr>
            <a:r>
              <a:t>• Role Pengguna Biasa: Menulis resep, melihat koleksi publik, belanja bahan, simpan favorit.</a:t>
            </a:r>
          </a:p>
          <a:p>
            <a:pPr>
              <a:spcAft>
                <a:spcPts val="800"/>
              </a:spcAft>
              <a:defRPr sz="1300">
                <a:solidFill>
                  <a:srgbClr val="231F20"/>
                </a:solidFill>
              </a:defRPr>
            </a:pPr>
            <a:r>
              <a:t>• Role Administrator: Memoderasi konten, manajemen kategori, kontrol taksonomi tag.</a:t>
            </a:r>
          </a:p>
          <a:p>
            <a:pPr>
              <a:spcAft>
                <a:spcPts val="800"/>
              </a:spcAft>
              <a:defRPr sz="1300">
                <a:solidFill>
                  <a:srgbClr val="231F20"/>
                </a:solidFill>
              </a:defRPr>
            </a:pPr>
            <a:r>
              <a:t>• Penulis resep tetap dapat melihat dan memperbaiki draf resep yang ditolak.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C6428"/>
                </a:solidFill>
              </a:defRPr>
            </a:pPr>
            <a:r>
              <a:t>BACKEND ARCHITECTURE &amp;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78190A"/>
                </a:solidFill>
              </a:defRPr>
            </a:pPr>
            <a:r>
              <a:t>Model Data &amp; Struktur Relasional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56432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299923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78190A"/>
                </a:solidFill>
              </a:defRPr>
            </a:pPr>
            <a:r>
              <a:t>User &amp; Profile</a:t>
            </a:r>
          </a:p>
          <a:p>
            <a:pPr>
              <a:defRPr sz="1200">
                <a:solidFill>
                  <a:srgbClr val="231F20"/>
                </a:solidFill>
              </a:defRPr>
            </a:pPr>
            <a:r>
              <a:t>AbstractUser kustom dengan pemisahan Role (Admin &amp; User). Profil pengguna menyimpan bio, foto avatar, dan metadata preferensi kuliner.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463040"/>
            <a:ext cx="3456432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1691640"/>
            <a:ext cx="299923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78190A"/>
                </a:solidFill>
              </a:defRPr>
            </a:pPr>
            <a:r>
              <a:t>Category &amp; Tag</a:t>
            </a:r>
          </a:p>
          <a:p>
            <a:pPr>
              <a:defRPr sz="1200">
                <a:solidFill>
                  <a:srgbClr val="231F20"/>
                </a:solidFill>
              </a:defRPr>
            </a:pPr>
            <a:r>
              <a:t>Taksonomi terstruktur masakan nusantara (e.g. Masakan Padang, Sunda, Jawa) dilengkapi Tag dinamis (Pedas, Berkuah, Cepat).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463040"/>
            <a:ext cx="3456432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38744" y="1691640"/>
            <a:ext cx="299923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78190A"/>
                </a:solidFill>
              </a:defRPr>
            </a:pPr>
            <a:r>
              <a:t>Recipe (Inti)</a:t>
            </a:r>
          </a:p>
          <a:p>
            <a:pPr>
              <a:defRPr sz="1200">
                <a:solidFill>
                  <a:srgbClr val="231F20"/>
                </a:solidFill>
              </a:defRPr>
            </a:pPr>
            <a:r>
              <a:t>Menyimpan judul, slug unik, deskripsi, estimasi waktu masak/persiapan, tingkat kesulitan, status publikasi, dan nilai gizi.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3456432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14800"/>
            <a:ext cx="299923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78190A"/>
                </a:solidFill>
              </a:defRPr>
            </a:pPr>
            <a:r>
              <a:t>Ingredient &amp; Step</a:t>
            </a:r>
          </a:p>
          <a:p>
            <a:pPr>
              <a:defRPr sz="1200">
                <a:solidFill>
                  <a:srgbClr val="231F20"/>
                </a:solidFill>
              </a:defRPr>
            </a:pPr>
            <a:r>
              <a:t>Relasi Foreign Key ke Recipe. Mendukung takaran spesifik (unit, gram, sdm) dan instruksi langkah berurutan secara terstruktur.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3886200"/>
            <a:ext cx="3456432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4114800"/>
            <a:ext cx="299923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78190A"/>
                </a:solidFill>
              </a:defRPr>
            </a:pPr>
            <a:r>
              <a:t>Shopping List</a:t>
            </a:r>
          </a:p>
          <a:p>
            <a:pPr>
              <a:defRPr sz="1200">
                <a:solidFill>
                  <a:srgbClr val="231F20"/>
                </a:solidFill>
              </a:defRPr>
            </a:pPr>
            <a:r>
              <a:t>Menyimpan item belanja pengguna secara atomik dengan fitur merge otomatis jika bahan yang sama ditambahkan berulang kali.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3886200"/>
            <a:ext cx="3456432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8744" y="4114800"/>
            <a:ext cx="299923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78190A"/>
                </a:solidFill>
              </a:defRPr>
            </a:pPr>
            <a:r>
              <a:t>Favorite &amp; Review</a:t>
            </a:r>
          </a:p>
          <a:p>
            <a:pPr>
              <a:defRPr sz="1200">
                <a:solidFill>
                  <a:srgbClr val="231F20"/>
                </a:solidFill>
              </a:defRPr>
            </a:pPr>
            <a:r>
              <a:t>Relasi m-to-n antara pengguna dan resep favorit, serta riwayat interaksi pengguna dalam komunitas.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C6428"/>
                </a:solidFill>
              </a:defRPr>
            </a:pPr>
            <a:r>
              <a:t>BEST PRACTICES &amp; KEAMANAN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78190A"/>
                </a:solidFill>
              </a:defRPr>
            </a:pPr>
            <a:r>
              <a:t>Keamanan Aplikasi &amp; Kualitas Kode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B43214"/>
                </a:solidFill>
              </a:defRPr>
            </a:pPr>
            <a:r>
              <a:t>Perlindungan CSRF &amp; Metode HTTP Ketat</a:t>
            </a:r>
          </a:p>
          <a:p>
            <a:pPr>
              <a:defRPr sz="1200">
                <a:solidFill>
                  <a:srgbClr val="231F20"/>
                </a:solidFill>
              </a:defRPr>
            </a:pPr>
            <a:r>
              <a:t>Aksi manipulasi data (logout, moderasi resep, toggle favorit, dan shopping list) diwajibkan menggunakan method POST dengan decorator @require_POST guna mencegah serangan CSRF bypass.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52578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9164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B43214"/>
                </a:solidFill>
              </a:defRPr>
            </a:pPr>
            <a:r>
              <a:t>Pencegahan Open Redirect</a:t>
            </a:r>
          </a:p>
          <a:p>
            <a:pPr>
              <a:defRPr sz="1200">
                <a:solidFill>
                  <a:srgbClr val="231F20"/>
                </a:solidFill>
              </a:defRPr>
            </a:pPr>
            <a:r>
              <a:t>Validasi parameter 'next' pada alur autentikasi menggunakan url_has_allowed_host_and_scheme() untuk melindungi pengguna dari jebakan phishing domain luar.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86200"/>
            <a:ext cx="52578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1480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B43214"/>
                </a:solidFill>
              </a:defRPr>
            </a:pPr>
            <a:r>
              <a:t>Integritas Data Atomik</a:t>
            </a:r>
          </a:p>
          <a:p>
            <a:pPr>
              <a:defRPr sz="1200">
                <a:solidFill>
                  <a:srgbClr val="231F20"/>
                </a:solidFill>
              </a:defRPr>
            </a:pPr>
            <a:r>
              <a:t>Operasi shopping list dan formset resep dibungkus transaction.atomic() dengan perhitungan Decimal presisi tinggi untuk menghindari selisih floating point.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886200"/>
            <a:ext cx="52578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11480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B43214"/>
                </a:solidFill>
              </a:defRPr>
            </a:pPr>
            <a:r>
              <a:t>Optimasi Query Database</a:t>
            </a:r>
          </a:p>
          <a:p>
            <a:pPr>
              <a:defRPr sz="1200">
                <a:solidFill>
                  <a:srgbClr val="231F20"/>
                </a:solidFill>
              </a:defRPr>
            </a:pPr>
            <a:r>
              <a:t>Menggantikan pemrosesan iteratif O(n) dengan QuerySet Database Annotate (F-expressions) dan Paginator efisien 12 item per halaman.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C6428"/>
                </a:solidFill>
              </a:defRPr>
            </a:pPr>
            <a:r>
              <a:t>PENGUJIAN &amp; JAMINAN KUALITAS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78190A"/>
                </a:solidFill>
              </a:defRPr>
            </a:pPr>
            <a:r>
              <a:t>Hasil Pengujian &amp; Verifikasi Sistem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5912" cy="1188720"/>
          </a:xfrm>
          <a:prstGeom prst="roundRect">
            <a:avLst/>
          </a:prstGeom>
          <a:solidFill>
            <a:srgbClr val="7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A623"/>
                </a:solidFill>
              </a:defRPr>
            </a:pPr>
            <a:r>
              <a:t>STATUS SISTEM: 100% HIJAU &amp; TERVERIFIKASI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50 dari 50 Unit &amp; Integration Test Lulus • 0 Kesalahan Django Check • Audit Kode Bersih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3364992" cy="3200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926080"/>
            <a:ext cx="3364992" cy="109728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200400"/>
            <a:ext cx="290779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28B22"/>
                </a:solidFill>
              </a:defRPr>
            </a:pPr>
            <a:r>
              <a:t>10 Bug Kritis Terselesaikan</a:t>
            </a:r>
          </a:p>
          <a:p>
            <a:pPr>
              <a:defRPr sz="1300">
                <a:solidFill>
                  <a:srgbClr val="231F20"/>
                </a:solidFill>
              </a:defRPr>
            </a:pPr>
            <a:r>
              <a:t>Termasuk validasi porsi piring, perlindungan CSRF logout/favorit, slug unik non-ASCII, dan filter resep pending agar tidak bocor ke publik.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7" y="2926080"/>
            <a:ext cx="3364992" cy="3200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7" y="2926080"/>
            <a:ext cx="3364992" cy="10972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3200400"/>
            <a:ext cx="290779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976D2"/>
                </a:solidFill>
              </a:defRPr>
            </a:pPr>
            <a:r>
              <a:t>5 Bug Logika Bisnis Diperbaiki</a:t>
            </a:r>
          </a:p>
          <a:p>
            <a:pPr>
              <a:defRPr sz="1300">
                <a:solidFill>
                  <a:srgbClr val="231F20"/>
                </a:solidFill>
              </a:defRPr>
            </a:pPr>
            <a:r>
              <a:t>Perhitungan durasi total masak otomatis via database F(), merge bahan duplikat di shopping list, dan validasi formset.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2926080"/>
            <a:ext cx="3364992" cy="3200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2926080"/>
            <a:ext cx="3364992" cy="109728"/>
          </a:xfrm>
          <a:prstGeom prst="rect">
            <a:avLst/>
          </a:prstGeom>
          <a:solidFill>
            <a:srgbClr val="B4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6" y="3200400"/>
            <a:ext cx="290779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B43214"/>
                </a:solidFill>
              </a:defRPr>
            </a:pPr>
            <a:r>
              <a:t>10 Bug UI &amp; Aksesibilitas Tuntas</a:t>
            </a:r>
          </a:p>
          <a:p>
            <a:pPr>
              <a:defRPr sz="1300">
                <a:solidFill>
                  <a:srgbClr val="231F20"/>
                </a:solidFill>
              </a:defRPr>
            </a:pPr>
            <a:r>
              <a:t>Navigasi mobile drawer responsif, modal tolak dengan alasan interaktif, indikator loading HTMX, dan feedback porsi.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C6428"/>
                </a:solidFill>
              </a:defRPr>
            </a:pPr>
            <a:r>
              <a:t>ROADMAP &amp; INOVASI LANJUTAN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78190A"/>
                </a:solidFill>
              </a:defRPr>
            </a:pPr>
            <a:r>
              <a:t>Rencana Pengembangan Masa Depan (Roadmap)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64992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364992" cy="109728"/>
          </a:xfrm>
          <a:prstGeom prst="rect">
            <a:avLst/>
          </a:prstGeom>
          <a:solidFill>
            <a:srgbClr val="B4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290779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78190A"/>
                </a:solidFill>
              </a:defRPr>
            </a:pPr>
            <a:r>
              <a:t>Tahap 1: Pengayaan Komunitas</a:t>
            </a:r>
          </a:p>
          <a:p>
            <a:pPr>
              <a:spcAft>
                <a:spcPts val="800"/>
              </a:spcAft>
              <a:defRPr sz="1300">
                <a:solidFill>
                  <a:srgbClr val="231F20"/>
                </a:solidFill>
              </a:defRPr>
            </a:pPr>
            <a:r>
              <a:t>• Sistem ulasan, rating bintang, dan upload foto hasil masakan (cooksnap).</a:t>
            </a:r>
          </a:p>
          <a:p>
            <a:pPr>
              <a:spcAft>
                <a:spcPts val="800"/>
              </a:spcAft>
              <a:defRPr sz="1300">
                <a:solidFill>
                  <a:srgbClr val="231F20"/>
                </a:solidFill>
              </a:defRPr>
            </a:pPr>
            <a:r>
              <a:t>• Fitur koleksi/buku resep kustom oleh pengguna (e.g. 'Menu Sahur', 'Diet Sehat').</a:t>
            </a:r>
          </a:p>
          <a:p>
            <a:pPr>
              <a:spcAft>
                <a:spcPts val="800"/>
              </a:spcAft>
              <a:defRPr sz="1300">
                <a:solidFill>
                  <a:srgbClr val="231F20"/>
                </a:solidFill>
              </a:defRPr>
            </a:pPr>
            <a:r>
              <a:t>• Notifikasi saat resep disetujui atau dikomentari.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7" y="1463040"/>
            <a:ext cx="3364992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07407" y="1463040"/>
            <a:ext cx="3364992" cy="109728"/>
          </a:xfrm>
          <a:prstGeom prst="rect">
            <a:avLst/>
          </a:prstGeom>
          <a:solidFill>
            <a:srgbClr val="B4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737360"/>
            <a:ext cx="290779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78190A"/>
                </a:solidFill>
              </a:defRPr>
            </a:pPr>
            <a:r>
              <a:t>Tahap 2: Integrasi Cerdas (AI / Smart Kitchen)</a:t>
            </a:r>
          </a:p>
          <a:p>
            <a:pPr>
              <a:spcAft>
                <a:spcPts val="800"/>
              </a:spcAft>
              <a:defRPr sz="1300">
                <a:solidFill>
                  <a:srgbClr val="231F20"/>
                </a:solidFill>
              </a:defRPr>
            </a:pPr>
            <a:r>
              <a:t>• Rekomendasi resep berbasis stok bahan dapur yang tersedia di kulkas.</a:t>
            </a:r>
          </a:p>
          <a:p>
            <a:pPr>
              <a:spcAft>
                <a:spcPts val="800"/>
              </a:spcAft>
              <a:defRPr sz="1300">
                <a:solidFill>
                  <a:srgbClr val="231F20"/>
                </a:solidFill>
              </a:defRPr>
            </a:pPr>
            <a:r>
              <a:t>• Ekstraksi resep otomatis dari gambar atau teks via AI Gemini API.</a:t>
            </a:r>
          </a:p>
          <a:p>
            <a:pPr>
              <a:spcAft>
                <a:spcPts val="800"/>
              </a:spcAft>
              <a:defRPr sz="1300">
                <a:solidFill>
                  <a:srgbClr val="231F20"/>
                </a:solidFill>
              </a:defRPr>
            </a:pPr>
            <a:r>
              <a:t>• Timer memasak interaktif terintegrasi per langkah instruksi.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463040"/>
            <a:ext cx="3364992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83296" y="1463040"/>
            <a:ext cx="3364992" cy="109728"/>
          </a:xfrm>
          <a:prstGeom prst="rect">
            <a:avLst/>
          </a:prstGeom>
          <a:solidFill>
            <a:srgbClr val="B4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11896" y="1737360"/>
            <a:ext cx="290779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78190A"/>
                </a:solidFill>
              </a:defRPr>
            </a:pPr>
            <a:r>
              <a:t>Tahap 3: Skalabilitas &amp; Mobile App</a:t>
            </a:r>
          </a:p>
          <a:p>
            <a:pPr>
              <a:spcAft>
                <a:spcPts val="800"/>
              </a:spcAft>
              <a:defRPr sz="1300">
                <a:solidFill>
                  <a:srgbClr val="231F20"/>
                </a:solidFill>
              </a:defRPr>
            </a:pPr>
            <a:r>
              <a:t>• PWA (Progressive Web App) dengan offline mode untuk membaca resep tanpa internet.</a:t>
            </a:r>
          </a:p>
          <a:p>
            <a:pPr>
              <a:spcAft>
                <a:spcPts val="800"/>
              </a:spcAft>
              <a:defRPr sz="1300">
                <a:solidFill>
                  <a:srgbClr val="231F20"/>
                </a:solidFill>
              </a:defRPr>
            </a:pPr>
            <a:r>
              <a:t>• Ekspor shopping list ke PDF atau pesan WhatsApp.</a:t>
            </a:r>
          </a:p>
          <a:p>
            <a:pPr>
              <a:spcAft>
                <a:spcPts val="800"/>
              </a:spcAft>
              <a:defRPr sz="1300">
                <a:solidFill>
                  <a:srgbClr val="231F20"/>
                </a:solidFill>
              </a:defRPr>
            </a:pPr>
            <a:r>
              <a:t>• Optimasi CDN cloud storage untuk ribuan gambar resolusi tinggi.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57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5A623"/>
                </a:solidFill>
              </a:defRPr>
            </a:pPr>
            <a:r>
              <a:t>KESIMPULAN PROYEK</a:t>
            </a:r>
          </a:p>
          <a:p>
            <a:pPr>
              <a:spcAft>
                <a:spcPts val="1800"/>
              </a:spcAft>
              <a:defRPr sz="3200" b="1">
                <a:solidFill>
                  <a:srgbClr val="FFFFFF"/>
                </a:solidFill>
              </a:defRPr>
            </a:pPr>
            <a:r>
              <a:t>Dapur Nusa — Melestarikan Kuliner Nusantara dengan Teknologi Web Modern</a:t>
            </a:r>
          </a:p>
          <a:p>
            <a:pPr>
              <a:spcAft>
                <a:spcPts val="3200"/>
              </a:spcAft>
              <a:defRPr sz="1600">
                <a:solidFill>
                  <a:srgbClr val="E6E1DC"/>
                </a:solidFill>
              </a:defRPr>
            </a:pPr>
            <a:r>
              <a:t>Kombinasi tangguh DATH Stack menghadirkan web yang sangat cepat, aman, dan interaktif.</a:t>
            </a:r>
            <a:br/>
            <a:r>
              <a:t>Kualitas kode teruji 100% dan siap diimplementasikan untuk para pecinta kuliner.</a:t>
            </a:r>
          </a:p>
          <a:p>
            <a:pPr>
              <a:defRPr sz="2200" b="1">
                <a:solidFill>
                  <a:srgbClr val="F5A623"/>
                </a:solidFill>
              </a:defRPr>
            </a:pPr>
            <a:r>
              <a:t>Terima Kasih! • Ada Pertanyaan?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