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781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05840"/>
            <a:ext cx="10058400" cy="2377440"/>
          </a:xfrm>
          <a:prstGeom prst="rect">
            <a:avLst/>
          </a:prstGeom>
          <a:noFill/>
        </p:spPr>
        <p:txBody>
          <a:bodyPr wrap="square">
            <a:spAutoFit/>
          </a:bodyPr>
          <a:lstStyle/>
          <a:p>
            <a:pPr>
              <a:spcAft>
                <a:spcPts val="1000"/>
              </a:spcAft>
              <a:defRPr sz="1300" b="1">
                <a:solidFill>
                  <a:srgbClr val="F5A623"/>
                </a:solidFill>
              </a:defRPr>
            </a:pPr>
            <a:r>
              <a:t>PRESENTASI PROYEK WEBSITE</a:t>
            </a:r>
          </a:p>
          <a:p>
            <a:pPr>
              <a:spcAft>
                <a:spcPts val="1000"/>
              </a:spcAft>
              <a:defRPr sz="4000" b="1">
                <a:solidFill>
                  <a:srgbClr val="FFFFFF"/>
                </a:solidFill>
              </a:defRPr>
            </a:pPr>
            <a:r>
              <a:t>🍳 DAPUR NUSA</a:t>
            </a:r>
          </a:p>
          <a:p>
            <a:pPr>
              <a:defRPr sz="1800">
                <a:solidFill>
                  <a:srgbClr val="F5EBE1"/>
                </a:solidFill>
              </a:defRPr>
            </a:pPr>
            <a:r>
              <a:t>Platform Resep Masakan Nusantara Modern berbasis DATH Stack</a:t>
            </a:r>
            <a:br/>
            <a:r>
              <a:t>(Django 5.2 • Alpine.js 3 • Tailwind CSS • HTMX 2)</a:t>
            </a:r>
          </a:p>
        </p:txBody>
      </p:sp>
      <p:sp>
        <p:nvSpPr>
          <p:cNvPr id="4" name="Rounded Rectangle 3"/>
          <p:cNvSpPr/>
          <p:nvPr/>
        </p:nvSpPr>
        <p:spPr>
          <a:xfrm>
            <a:off x="1097280" y="3840480"/>
            <a:ext cx="5943600" cy="2194560"/>
          </a:xfrm>
          <a:prstGeom prst="roundRect">
            <a:avLst/>
          </a:prstGeom>
          <a:solidFill>
            <a:srgbClr val="461208"/>
          </a:solidFill>
          <a:ln w="15240">
            <a:solidFill>
              <a:srgbClr val="B446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3977639"/>
            <a:ext cx="5577840" cy="1920240"/>
          </a:xfrm>
          <a:prstGeom prst="rect">
            <a:avLst/>
          </a:prstGeom>
          <a:noFill/>
        </p:spPr>
        <p:txBody>
          <a:bodyPr wrap="square">
            <a:spAutoFit/>
          </a:bodyPr>
          <a:lstStyle/>
          <a:p>
            <a:pPr>
              <a:spcAft>
                <a:spcPts val="600"/>
              </a:spcAft>
              <a:defRPr sz="1100" b="1">
                <a:solidFill>
                  <a:srgbClr val="F5A623"/>
                </a:solidFill>
              </a:defRPr>
            </a:pPr>
            <a:r>
              <a:t>ANGGOTA KELOMPOK:</a:t>
            </a:r>
          </a:p>
          <a:p>
            <a:pPr>
              <a:spcAft>
                <a:spcPts val="300"/>
              </a:spcAft>
              <a:defRPr sz="1200">
                <a:solidFill>
                  <a:srgbClr val="FFF5EB"/>
                </a:solidFill>
              </a:defRPr>
            </a:pPr>
            <a:r>
              <a:t>•  Ali Alhafidz</a:t>
            </a:r>
          </a:p>
          <a:p>
            <a:pPr>
              <a:spcAft>
                <a:spcPts val="300"/>
              </a:spcAft>
              <a:defRPr sz="1200">
                <a:solidFill>
                  <a:srgbClr val="FFF5EB"/>
                </a:solidFill>
              </a:defRPr>
            </a:pPr>
            <a:r>
              <a:t>•  Aldiana Risman</a:t>
            </a:r>
          </a:p>
          <a:p>
            <a:pPr>
              <a:spcAft>
                <a:spcPts val="300"/>
              </a:spcAft>
              <a:defRPr sz="1200">
                <a:solidFill>
                  <a:srgbClr val="FFF5EB"/>
                </a:solidFill>
              </a:defRPr>
            </a:pPr>
            <a:r>
              <a:t>•  Riski Hidayat</a:t>
            </a:r>
          </a:p>
          <a:p>
            <a:pPr>
              <a:spcAft>
                <a:spcPts val="300"/>
              </a:spcAft>
              <a:defRPr sz="1200">
                <a:solidFill>
                  <a:srgbClr val="FFF5EB"/>
                </a:solidFill>
              </a:defRPr>
            </a:pPr>
            <a:r>
              <a:t>•  Miqdad Alfarizi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02 • LATAR BELAKANG PROYEK</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Latar Belakang &amp; Solusi</a:t>
            </a:r>
          </a:p>
        </p:txBody>
      </p:sp>
      <p:sp>
        <p:nvSpPr>
          <p:cNvPr id="5" name="Rounded Rectangle 4"/>
          <p:cNvSpPr/>
          <p:nvPr/>
        </p:nvSpPr>
        <p:spPr>
          <a:xfrm>
            <a:off x="731520" y="1463040"/>
            <a:ext cx="5166360"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166360" cy="109728"/>
          </a:xfrm>
          <a:prstGeom prst="rect">
            <a:avLst/>
          </a:prstGeom>
          <a:solidFill>
            <a:srgbClr val="B43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828800"/>
            <a:ext cx="4434840" cy="3931920"/>
          </a:xfrm>
          <a:prstGeom prst="rect">
            <a:avLst/>
          </a:prstGeom>
          <a:noFill/>
        </p:spPr>
        <p:txBody>
          <a:bodyPr wrap="square">
            <a:spAutoFit/>
          </a:bodyPr>
          <a:lstStyle/>
          <a:p>
            <a:pPr>
              <a:spcAft>
                <a:spcPts val="1800"/>
              </a:spcAft>
              <a:defRPr sz="2000" b="1">
                <a:solidFill>
                  <a:srgbClr val="B43214"/>
                </a:solidFill>
              </a:defRPr>
            </a:pPr>
            <a:r>
              <a:t>⚠️ Latar Belakang Masalah</a:t>
            </a:r>
          </a:p>
          <a:p>
            <a:pPr>
              <a:spcAft>
                <a:spcPts val="1400"/>
              </a:spcAft>
              <a:defRPr sz="1500">
                <a:solidFill>
                  <a:srgbClr val="231F20"/>
                </a:solidFill>
              </a:defRPr>
            </a:pPr>
            <a:r>
              <a:t>Kekayaan kuliner tradisional nusantara saat ini masih banyak tersebar secara tidak terstruktur dengan takaran yang seringkali tidak baku, sehingga menyulitkan koki rumahan dalam memperkirakan takaran bahan saat porsi diubah dan mencatat daftar belanja secara praktis, diperparah oleh kebanyakan website resep modern yang lambat serta berat diakses karena beban framework JavaScript yang berlebihan.</a:t>
            </a:r>
          </a:p>
        </p:txBody>
      </p:sp>
      <p:sp>
        <p:nvSpPr>
          <p:cNvPr id="8" name="Rounded Rectangle 7"/>
          <p:cNvSpPr/>
          <p:nvPr/>
        </p:nvSpPr>
        <p:spPr>
          <a:xfrm>
            <a:off x="6291072" y="1463040"/>
            <a:ext cx="5166360"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91072" y="1463040"/>
            <a:ext cx="5166360" cy="109728"/>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56832" y="1828800"/>
            <a:ext cx="4434840" cy="3931920"/>
          </a:xfrm>
          <a:prstGeom prst="rect">
            <a:avLst/>
          </a:prstGeom>
          <a:noFill/>
        </p:spPr>
        <p:txBody>
          <a:bodyPr wrap="square">
            <a:spAutoFit/>
          </a:bodyPr>
          <a:lstStyle/>
          <a:p>
            <a:pPr>
              <a:spcAft>
                <a:spcPts val="1800"/>
              </a:spcAft>
              <a:defRPr sz="2000" b="1">
                <a:solidFill>
                  <a:srgbClr val="228B22"/>
                </a:solidFill>
              </a:defRPr>
            </a:pPr>
            <a:r>
              <a:t>💡 Solusi Dapur Nusa</a:t>
            </a:r>
          </a:p>
          <a:p>
            <a:pPr>
              <a:spcAft>
                <a:spcPts val="1400"/>
              </a:spcAft>
              <a:defRPr sz="1500">
                <a:solidFill>
                  <a:srgbClr val="231F20"/>
                </a:solidFill>
              </a:defRPr>
            </a:pPr>
            <a:r>
              <a:t>Dapur Nusa menghadirkan platform katalog resep nusantara terstandarisasi berbasis arsitektur DATH Stack yang sangat ringan dan cepat, dilengkapi fitur cerdas kalkulator porsi dinamis untuk penyesuaian takaran bahan secara otomatis serta integrasi daftar belanja digital yang mempermudah seluruh proses memasak hidangan tradisional dari awal hingga akhir.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03 • STACK TEKNOLOGI</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Arsitektur Teknologi: DATH Stack</a:t>
            </a:r>
          </a:p>
        </p:txBody>
      </p:sp>
      <p:sp>
        <p:nvSpPr>
          <p:cNvPr id="5" name="Rounded Rectangle 4"/>
          <p:cNvSpPr/>
          <p:nvPr/>
        </p:nvSpPr>
        <p:spPr>
          <a:xfrm>
            <a:off x="731520" y="146304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709160" cy="1828800"/>
          </a:xfrm>
          <a:prstGeom prst="rect">
            <a:avLst/>
          </a:prstGeom>
          <a:noFill/>
        </p:spPr>
        <p:txBody>
          <a:bodyPr wrap="square">
            <a:spAutoFit/>
          </a:bodyPr>
          <a:lstStyle/>
          <a:p>
            <a:pPr>
              <a:defRPr sz="1800" b="1">
                <a:solidFill>
                  <a:srgbClr val="B43214"/>
                </a:solidFill>
              </a:defRPr>
            </a:pPr>
            <a:r>
              <a:t>Django 5.2</a:t>
            </a:r>
          </a:p>
          <a:p>
            <a:pPr>
              <a:spcAft>
                <a:spcPts val="800"/>
              </a:spcAft>
              <a:defRPr sz="1200" b="1">
                <a:solidFill>
                  <a:srgbClr val="DC6428"/>
                </a:solidFill>
              </a:defRPr>
            </a:pPr>
            <a:r>
              <a:t>Core Backend &amp; Security</a:t>
            </a:r>
          </a:p>
          <a:p>
            <a:pPr>
              <a:defRPr sz="1200">
                <a:solidFill>
                  <a:srgbClr val="231F20"/>
                </a:solidFill>
              </a:defRPr>
            </a:pPr>
            <a:r>
              <a:t>ORM handal, manajemen autentikasi &amp; peran pengguna, serta proteksi CSRF &amp; SQL Injection.</a:t>
            </a:r>
          </a:p>
        </p:txBody>
      </p:sp>
      <p:sp>
        <p:nvSpPr>
          <p:cNvPr id="7" name="Rounded Rectangle 6"/>
          <p:cNvSpPr/>
          <p:nvPr/>
        </p:nvSpPr>
        <p:spPr>
          <a:xfrm>
            <a:off x="6172200" y="146304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91640"/>
            <a:ext cx="4709160" cy="1828800"/>
          </a:xfrm>
          <a:prstGeom prst="rect">
            <a:avLst/>
          </a:prstGeom>
          <a:noFill/>
        </p:spPr>
        <p:txBody>
          <a:bodyPr wrap="square">
            <a:spAutoFit/>
          </a:bodyPr>
          <a:lstStyle/>
          <a:p>
            <a:pPr>
              <a:defRPr sz="1800" b="1">
                <a:solidFill>
                  <a:srgbClr val="B43214"/>
                </a:solidFill>
              </a:defRPr>
            </a:pPr>
            <a:r>
              <a:t>HTMX 2.x</a:t>
            </a:r>
          </a:p>
          <a:p>
            <a:pPr>
              <a:spcAft>
                <a:spcPts val="800"/>
              </a:spcAft>
              <a:defRPr sz="1200" b="1">
                <a:solidFill>
                  <a:srgbClr val="DC6428"/>
                </a:solidFill>
              </a:defRPr>
            </a:pPr>
            <a:r>
              <a:t>Interaktivitas Tanpa Reload</a:t>
            </a:r>
          </a:p>
          <a:p>
            <a:pPr>
              <a:defRPr sz="1200">
                <a:solidFill>
                  <a:srgbClr val="231F20"/>
                </a:solidFill>
              </a:defRPr>
            </a:pPr>
            <a:r>
              <a:t>Pencarian instan, filter kategori, dan tombol simpan favorit tanpa refresh halaman penuh.</a:t>
            </a:r>
          </a:p>
        </p:txBody>
      </p:sp>
      <p:sp>
        <p:nvSpPr>
          <p:cNvPr id="9" name="Rounded Rectangle 8"/>
          <p:cNvSpPr/>
          <p:nvPr/>
        </p:nvSpPr>
        <p:spPr>
          <a:xfrm>
            <a:off x="731520" y="388620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114800"/>
            <a:ext cx="4709160" cy="1828800"/>
          </a:xfrm>
          <a:prstGeom prst="rect">
            <a:avLst/>
          </a:prstGeom>
          <a:noFill/>
        </p:spPr>
        <p:txBody>
          <a:bodyPr wrap="square">
            <a:spAutoFit/>
          </a:bodyPr>
          <a:lstStyle/>
          <a:p>
            <a:pPr>
              <a:defRPr sz="1800" b="1">
                <a:solidFill>
                  <a:srgbClr val="B43214"/>
                </a:solidFill>
              </a:defRPr>
            </a:pPr>
            <a:r>
              <a:t>Alpine.js 3.x</a:t>
            </a:r>
          </a:p>
          <a:p>
            <a:pPr>
              <a:spcAft>
                <a:spcPts val="800"/>
              </a:spcAft>
              <a:defRPr sz="1200" b="1">
                <a:solidFill>
                  <a:srgbClr val="DC6428"/>
                </a:solidFill>
              </a:defRPr>
            </a:pPr>
            <a:r>
              <a:t>Reaktivitas Mikro Klien</a:t>
            </a:r>
          </a:p>
          <a:p>
            <a:pPr>
              <a:defRPr sz="1200">
                <a:solidFill>
                  <a:srgbClr val="231F20"/>
                </a:solidFill>
              </a:defRPr>
            </a:pPr>
            <a:r>
              <a:t>Slider kalkulasi porsi piring real-time, drawer mobile, dan dialog modal langsung di browser.</a:t>
            </a:r>
          </a:p>
        </p:txBody>
      </p:sp>
      <p:sp>
        <p:nvSpPr>
          <p:cNvPr id="11" name="Rounded Rectangle 10"/>
          <p:cNvSpPr/>
          <p:nvPr/>
        </p:nvSpPr>
        <p:spPr>
          <a:xfrm>
            <a:off x="6172200" y="388620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114800"/>
            <a:ext cx="4709160" cy="1828800"/>
          </a:xfrm>
          <a:prstGeom prst="rect">
            <a:avLst/>
          </a:prstGeom>
          <a:noFill/>
        </p:spPr>
        <p:txBody>
          <a:bodyPr wrap="square">
            <a:spAutoFit/>
          </a:bodyPr>
          <a:lstStyle/>
          <a:p>
            <a:pPr>
              <a:defRPr sz="1800" b="1">
                <a:solidFill>
                  <a:srgbClr val="B43214"/>
                </a:solidFill>
              </a:defRPr>
            </a:pPr>
            <a:r>
              <a:t>Tailwind CSS</a:t>
            </a:r>
          </a:p>
          <a:p>
            <a:pPr>
              <a:spcAft>
                <a:spcPts val="800"/>
              </a:spcAft>
              <a:defRPr sz="1200" b="1">
                <a:solidFill>
                  <a:srgbClr val="DC6428"/>
                </a:solidFill>
              </a:defRPr>
            </a:pPr>
            <a:r>
              <a:t>Material Design 3</a:t>
            </a:r>
          </a:p>
          <a:p>
            <a:pPr>
              <a:defRPr sz="1200">
                <a:solidFill>
                  <a:srgbClr val="231F20"/>
                </a:solidFill>
              </a:defRPr>
            </a:pPr>
            <a:r>
              <a:t>Desain berbasis utility-first dengan palet warna hangat khas rempah yang responsif dan mobile-friendly.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04 • FITUR APLIKASI</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Fitur Unggulan Pengguna</a:t>
            </a:r>
          </a:p>
        </p:txBody>
      </p:sp>
      <p:sp>
        <p:nvSpPr>
          <p:cNvPr id="5" name="Rounded Rectangle 4"/>
          <p:cNvSpPr/>
          <p:nvPr/>
        </p:nvSpPr>
        <p:spPr>
          <a:xfrm>
            <a:off x="731520"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2999232" cy="1828800"/>
          </a:xfrm>
          <a:prstGeom prst="rect">
            <a:avLst/>
          </a:prstGeom>
          <a:noFill/>
        </p:spPr>
        <p:txBody>
          <a:bodyPr wrap="square">
            <a:spAutoFit/>
          </a:bodyPr>
          <a:lstStyle/>
          <a:p>
            <a:pPr>
              <a:spcAft>
                <a:spcPts val="800"/>
              </a:spcAft>
              <a:defRPr sz="1500" b="1">
                <a:solidFill>
                  <a:srgbClr val="78190A"/>
                </a:solidFill>
              </a:defRPr>
            </a:pPr>
            <a:r>
              <a:t>🔍 Cari &amp; Filter Cepat</a:t>
            </a:r>
          </a:p>
          <a:p>
            <a:pPr>
              <a:defRPr sz="1200">
                <a:solidFill>
                  <a:srgbClr val="231F20"/>
                </a:solidFill>
              </a:defRPr>
            </a:pPr>
            <a:r>
              <a:t>Filter resep berdasarkan bahan utama, daerah, waktu masak, dan tingkat kesulitan secara instan.</a:t>
            </a:r>
          </a:p>
        </p:txBody>
      </p:sp>
      <p:sp>
        <p:nvSpPr>
          <p:cNvPr id="7" name="Rounded Rectangle 6"/>
          <p:cNvSpPr/>
          <p:nvPr/>
        </p:nvSpPr>
        <p:spPr>
          <a:xfrm>
            <a:off x="4370832"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691640"/>
            <a:ext cx="2999232" cy="1828800"/>
          </a:xfrm>
          <a:prstGeom prst="rect">
            <a:avLst/>
          </a:prstGeom>
          <a:noFill/>
        </p:spPr>
        <p:txBody>
          <a:bodyPr wrap="square">
            <a:spAutoFit/>
          </a:bodyPr>
          <a:lstStyle/>
          <a:p>
            <a:pPr>
              <a:spcAft>
                <a:spcPts val="800"/>
              </a:spcAft>
              <a:defRPr sz="1500" b="1">
                <a:solidFill>
                  <a:srgbClr val="78190A"/>
                </a:solidFill>
              </a:defRPr>
            </a:pPr>
            <a:r>
              <a:t>⚖️ Porsi Dinamis</a:t>
            </a:r>
          </a:p>
          <a:p>
            <a:pPr>
              <a:defRPr sz="1200">
                <a:solidFill>
                  <a:srgbClr val="231F20"/>
                </a:solidFill>
              </a:defRPr>
            </a:pPr>
            <a:r>
              <a:t>Kalkulasi otomatis jumlah takaran bahan (gram, sdm) saat jumlah porsi piring diubah pengguna.</a:t>
            </a:r>
          </a:p>
        </p:txBody>
      </p:sp>
      <p:sp>
        <p:nvSpPr>
          <p:cNvPr id="9" name="Rounded Rectangle 8"/>
          <p:cNvSpPr/>
          <p:nvPr/>
        </p:nvSpPr>
        <p:spPr>
          <a:xfrm>
            <a:off x="8010144"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1691640"/>
            <a:ext cx="2999232" cy="1828800"/>
          </a:xfrm>
          <a:prstGeom prst="rect">
            <a:avLst/>
          </a:prstGeom>
          <a:noFill/>
        </p:spPr>
        <p:txBody>
          <a:bodyPr wrap="square">
            <a:spAutoFit/>
          </a:bodyPr>
          <a:lstStyle/>
          <a:p>
            <a:pPr>
              <a:spcAft>
                <a:spcPts val="800"/>
              </a:spcAft>
              <a:defRPr sz="1500" b="1">
                <a:solidFill>
                  <a:srgbClr val="78190A"/>
                </a:solidFill>
              </a:defRPr>
            </a:pPr>
            <a:r>
              <a:t>🛒 Daftar Belanja Cerdas</a:t>
            </a:r>
          </a:p>
          <a:p>
            <a:pPr>
              <a:defRPr sz="1200">
                <a:solidFill>
                  <a:srgbClr val="231F20"/>
                </a:solidFill>
              </a:defRPr>
            </a:pPr>
            <a:r>
              <a:t>Tambahkan bahan ke shopping list pribadi dengan penggabungan item sejenis secara otomatis.</a:t>
            </a:r>
          </a:p>
        </p:txBody>
      </p:sp>
      <p:sp>
        <p:nvSpPr>
          <p:cNvPr id="11" name="Rounded Rectangle 10"/>
          <p:cNvSpPr/>
          <p:nvPr/>
        </p:nvSpPr>
        <p:spPr>
          <a:xfrm>
            <a:off x="731520"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2999232" cy="1828800"/>
          </a:xfrm>
          <a:prstGeom prst="rect">
            <a:avLst/>
          </a:prstGeom>
          <a:noFill/>
        </p:spPr>
        <p:txBody>
          <a:bodyPr wrap="square">
            <a:spAutoFit/>
          </a:bodyPr>
          <a:lstStyle/>
          <a:p>
            <a:pPr>
              <a:spcAft>
                <a:spcPts val="800"/>
              </a:spcAft>
              <a:defRPr sz="1500" b="1">
                <a:solidFill>
                  <a:srgbClr val="78190A"/>
                </a:solidFill>
              </a:defRPr>
            </a:pPr>
            <a:r>
              <a:t>❤️ Koleksi Favorit</a:t>
            </a:r>
          </a:p>
          <a:p>
            <a:pPr>
              <a:defRPr sz="1200">
                <a:solidFill>
                  <a:srgbClr val="231F20"/>
                </a:solidFill>
              </a:defRPr>
            </a:pPr>
            <a:r>
              <a:t>Simpan resep pilihan pengguna dengan satu klik tanpa reload halaman.</a:t>
            </a:r>
          </a:p>
        </p:txBody>
      </p:sp>
      <p:sp>
        <p:nvSpPr>
          <p:cNvPr id="13" name="Rounded Rectangle 12"/>
          <p:cNvSpPr/>
          <p:nvPr/>
        </p:nvSpPr>
        <p:spPr>
          <a:xfrm>
            <a:off x="4370832"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4114800"/>
            <a:ext cx="2999232" cy="1828800"/>
          </a:xfrm>
          <a:prstGeom prst="rect">
            <a:avLst/>
          </a:prstGeom>
          <a:noFill/>
        </p:spPr>
        <p:txBody>
          <a:bodyPr wrap="square">
            <a:spAutoFit/>
          </a:bodyPr>
          <a:lstStyle/>
          <a:p>
            <a:pPr>
              <a:spcAft>
                <a:spcPts val="800"/>
              </a:spcAft>
              <a:defRPr sz="1500" b="1">
                <a:solidFill>
                  <a:srgbClr val="78190A"/>
                </a:solidFill>
              </a:defRPr>
            </a:pPr>
            <a:r>
              <a:t>🥗 Estimasi Gizi</a:t>
            </a:r>
          </a:p>
          <a:p>
            <a:pPr>
              <a:defRPr sz="1200">
                <a:solidFill>
                  <a:srgbClr val="231F20"/>
                </a:solidFill>
              </a:defRPr>
            </a:pPr>
            <a:r>
              <a:t>Rincian kalori, protein, lemak, dan karbohidrat per porsi untuk panduan hidup sehat.</a:t>
            </a:r>
          </a:p>
        </p:txBody>
      </p:sp>
      <p:sp>
        <p:nvSpPr>
          <p:cNvPr id="15" name="Rounded Rectangle 14"/>
          <p:cNvSpPr/>
          <p:nvPr/>
        </p:nvSpPr>
        <p:spPr>
          <a:xfrm>
            <a:off x="8010144"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4114800"/>
            <a:ext cx="2999232" cy="1828800"/>
          </a:xfrm>
          <a:prstGeom prst="rect">
            <a:avLst/>
          </a:prstGeom>
          <a:noFill/>
        </p:spPr>
        <p:txBody>
          <a:bodyPr wrap="square">
            <a:spAutoFit/>
          </a:bodyPr>
          <a:lstStyle/>
          <a:p>
            <a:pPr>
              <a:spcAft>
                <a:spcPts val="800"/>
              </a:spcAft>
              <a:defRPr sz="1500" b="1">
                <a:solidFill>
                  <a:srgbClr val="78190A"/>
                </a:solidFill>
              </a:defRPr>
            </a:pPr>
            <a:r>
              <a:t>✍️ Berbagi Resep</a:t>
            </a:r>
          </a:p>
          <a:p>
            <a:pPr>
              <a:defRPr sz="1200">
                <a:solidFill>
                  <a:srgbClr val="231F20"/>
                </a:solidFill>
              </a:defRPr>
            </a:pPr>
            <a:r>
              <a:t>Form pembuatan resep lengkap dengan formset dinamis langkah masak dan foto.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05 • TATA KELOLA KONTEN</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Moderasi Resep &amp; Dashboard Admin</a:t>
            </a:r>
          </a:p>
        </p:txBody>
      </p:sp>
      <p:sp>
        <p:nvSpPr>
          <p:cNvPr id="5" name="Rounded Rectangle 4"/>
          <p:cNvSpPr/>
          <p:nvPr/>
        </p:nvSpPr>
        <p:spPr>
          <a:xfrm>
            <a:off x="731520"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364992" cy="109728"/>
          </a:xfrm>
          <a:prstGeom prst="rect">
            <a:avLst/>
          </a:prstGeom>
          <a:solidFill>
            <a:srgbClr val="B43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2907792" cy="4206240"/>
          </a:xfrm>
          <a:prstGeom prst="rect">
            <a:avLst/>
          </a:prstGeom>
          <a:noFill/>
        </p:spPr>
        <p:txBody>
          <a:bodyPr wrap="square">
            <a:spAutoFit/>
          </a:bodyPr>
          <a:lstStyle/>
          <a:p>
            <a:pPr>
              <a:spcAft>
                <a:spcPts val="1400"/>
              </a:spcAft>
              <a:defRPr sz="1700" b="1">
                <a:solidFill>
                  <a:srgbClr val="B43214"/>
                </a:solidFill>
              </a:defRPr>
            </a:pPr>
            <a:r>
              <a:t>Alur Moderasi Resep</a:t>
            </a:r>
          </a:p>
          <a:p>
            <a:pPr>
              <a:spcAft>
                <a:spcPts val="1000"/>
              </a:spcAft>
              <a:defRPr sz="1300">
                <a:solidFill>
                  <a:srgbClr val="231F20"/>
                </a:solidFill>
              </a:defRPr>
            </a:pPr>
            <a:r>
              <a:t>• Resep baru berstatus 'PENDING' (belum publik).</a:t>
            </a:r>
          </a:p>
          <a:p>
            <a:pPr>
              <a:spcAft>
                <a:spcPts val="1000"/>
              </a:spcAft>
              <a:defRPr sz="1300">
                <a:solidFill>
                  <a:srgbClr val="231F20"/>
                </a:solidFill>
              </a:defRPr>
            </a:pPr>
            <a:r>
              <a:t>• Admin memverifikasi dan menyetujui (PUBLISHED).</a:t>
            </a:r>
          </a:p>
          <a:p>
            <a:pPr>
              <a:spcAft>
                <a:spcPts val="1000"/>
              </a:spcAft>
              <a:defRPr sz="1300">
                <a:solidFill>
                  <a:srgbClr val="231F20"/>
                </a:solidFill>
              </a:defRPr>
            </a:pPr>
            <a:r>
              <a:t>• Opsi penolakan wajib menyertakan alasan yang jelas.</a:t>
            </a:r>
          </a:p>
          <a:p>
            <a:pPr>
              <a:spcAft>
                <a:spcPts val="1000"/>
              </a:spcAft>
              <a:defRPr sz="1300">
                <a:solidFill>
                  <a:srgbClr val="231F20"/>
                </a:solidFill>
              </a:defRPr>
            </a:pPr>
            <a:r>
              <a:t>• Penulis tetap dapat membaca catatan perbaikan.</a:t>
            </a:r>
          </a:p>
        </p:txBody>
      </p:sp>
      <p:sp>
        <p:nvSpPr>
          <p:cNvPr id="8" name="Rounded Rectangle 7"/>
          <p:cNvSpPr/>
          <p:nvPr/>
        </p:nvSpPr>
        <p:spPr>
          <a:xfrm>
            <a:off x="4407407"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7407" y="1463040"/>
            <a:ext cx="3364992" cy="109728"/>
          </a:xfrm>
          <a:prstGeom prst="rect">
            <a:avLst/>
          </a:prstGeom>
          <a:solidFill>
            <a:srgbClr val="DC6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1737360"/>
            <a:ext cx="2907792" cy="4206240"/>
          </a:xfrm>
          <a:prstGeom prst="rect">
            <a:avLst/>
          </a:prstGeom>
          <a:noFill/>
        </p:spPr>
        <p:txBody>
          <a:bodyPr wrap="square">
            <a:spAutoFit/>
          </a:bodyPr>
          <a:lstStyle/>
          <a:p>
            <a:pPr>
              <a:spcAft>
                <a:spcPts val="1400"/>
              </a:spcAft>
              <a:defRPr sz="1700" b="1">
                <a:solidFill>
                  <a:srgbClr val="DC6428"/>
                </a:solidFill>
              </a:defRPr>
            </a:pPr>
            <a:r>
              <a:t>Dashboard Administrator</a:t>
            </a:r>
          </a:p>
          <a:p>
            <a:pPr>
              <a:spcAft>
                <a:spcPts val="1000"/>
              </a:spcAft>
              <a:defRPr sz="1300">
                <a:solidFill>
                  <a:srgbClr val="231F20"/>
                </a:solidFill>
              </a:defRPr>
            </a:pPr>
            <a:r>
              <a:t>• Metrik total resep terbit, antrean pending, dan user.</a:t>
            </a:r>
          </a:p>
          <a:p>
            <a:pPr>
              <a:spcAft>
                <a:spcPts val="1000"/>
              </a:spcAft>
              <a:defRPr sz="1300">
                <a:solidFill>
                  <a:srgbClr val="231F20"/>
                </a:solidFill>
              </a:defRPr>
            </a:pPr>
            <a:r>
              <a:t>• Aksi cepat moderasi langsung dari tabel review.</a:t>
            </a:r>
          </a:p>
          <a:p>
            <a:pPr>
              <a:spcAft>
                <a:spcPts val="1000"/>
              </a:spcAft>
              <a:defRPr sz="1300">
                <a:solidFill>
                  <a:srgbClr val="231F20"/>
                </a:solidFill>
              </a:defRPr>
            </a:pPr>
            <a:r>
              <a:t>• Kontrol taksonomi kategori dan tag pencarian.</a:t>
            </a:r>
          </a:p>
          <a:p>
            <a:pPr>
              <a:spcAft>
                <a:spcPts val="1000"/>
              </a:spcAft>
              <a:defRPr sz="1300">
                <a:solidFill>
                  <a:srgbClr val="231F20"/>
                </a:solidFill>
              </a:defRPr>
            </a:pPr>
            <a:r>
              <a:t>• Proteksi aksi menggunakan metode POST dan CSRF.</a:t>
            </a:r>
          </a:p>
        </p:txBody>
      </p:sp>
      <p:sp>
        <p:nvSpPr>
          <p:cNvPr id="11" name="Rounded Rectangle 10"/>
          <p:cNvSpPr/>
          <p:nvPr/>
        </p:nvSpPr>
        <p:spPr>
          <a:xfrm>
            <a:off x="8083296"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83296" y="1463040"/>
            <a:ext cx="3364992" cy="109728"/>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737360"/>
            <a:ext cx="2907792" cy="4206240"/>
          </a:xfrm>
          <a:prstGeom prst="rect">
            <a:avLst/>
          </a:prstGeom>
          <a:noFill/>
        </p:spPr>
        <p:txBody>
          <a:bodyPr wrap="square">
            <a:spAutoFit/>
          </a:bodyPr>
          <a:lstStyle/>
          <a:p>
            <a:pPr>
              <a:spcAft>
                <a:spcPts val="1400"/>
              </a:spcAft>
              <a:defRPr sz="1700" b="1">
                <a:solidFill>
                  <a:srgbClr val="228B22"/>
                </a:solidFill>
              </a:defRPr>
            </a:pPr>
            <a:r>
              <a:t>Pemisahan Hak Akses (Role)</a:t>
            </a:r>
          </a:p>
          <a:p>
            <a:pPr>
              <a:spcAft>
                <a:spcPts val="1000"/>
              </a:spcAft>
              <a:defRPr sz="1300">
                <a:solidFill>
                  <a:srgbClr val="231F20"/>
                </a:solidFill>
              </a:defRPr>
            </a:pPr>
            <a:r>
              <a:t>• Role Pengguna Biasa: Membaca, menulis resep, belanja, simpan favorit.</a:t>
            </a:r>
          </a:p>
          <a:p>
            <a:pPr>
              <a:spcAft>
                <a:spcPts val="1000"/>
              </a:spcAft>
              <a:defRPr sz="1300">
                <a:solidFill>
                  <a:srgbClr val="231F20"/>
                </a:solidFill>
              </a:defRPr>
            </a:pPr>
            <a:r>
              <a:t>• Role Admin: Manajemen konten, kurasi, dan moderasi komunitas.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06 • DATABASE ARCHITECTURE</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Struktur Database Relasional</a:t>
            </a:r>
          </a:p>
        </p:txBody>
      </p:sp>
      <p:sp>
        <p:nvSpPr>
          <p:cNvPr id="5" name="Rounded Rectangle 4"/>
          <p:cNvSpPr/>
          <p:nvPr/>
        </p:nvSpPr>
        <p:spPr>
          <a:xfrm>
            <a:off x="731520"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2999232" cy="1828800"/>
          </a:xfrm>
          <a:prstGeom prst="rect">
            <a:avLst/>
          </a:prstGeom>
          <a:noFill/>
        </p:spPr>
        <p:txBody>
          <a:bodyPr wrap="square">
            <a:spAutoFit/>
          </a:bodyPr>
          <a:lstStyle/>
          <a:p>
            <a:pPr>
              <a:spcAft>
                <a:spcPts val="800"/>
              </a:spcAft>
              <a:defRPr sz="1600" b="1">
                <a:solidFill>
                  <a:srgbClr val="78190A"/>
                </a:solidFill>
              </a:defRPr>
            </a:pPr>
            <a:r>
              <a:t>User &amp; Profile</a:t>
            </a:r>
          </a:p>
          <a:p>
            <a:pPr>
              <a:defRPr sz="1200">
                <a:solidFill>
                  <a:srgbClr val="231F20"/>
                </a:solidFill>
              </a:defRPr>
            </a:pPr>
            <a:r>
              <a:t>Pemisahan peran Admin dan Pengguna, profil bio koki dan avatar.</a:t>
            </a:r>
          </a:p>
        </p:txBody>
      </p:sp>
      <p:sp>
        <p:nvSpPr>
          <p:cNvPr id="7" name="Rounded Rectangle 6"/>
          <p:cNvSpPr/>
          <p:nvPr/>
        </p:nvSpPr>
        <p:spPr>
          <a:xfrm>
            <a:off x="4370832"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691640"/>
            <a:ext cx="2999232" cy="1828800"/>
          </a:xfrm>
          <a:prstGeom prst="rect">
            <a:avLst/>
          </a:prstGeom>
          <a:noFill/>
        </p:spPr>
        <p:txBody>
          <a:bodyPr wrap="square">
            <a:spAutoFit/>
          </a:bodyPr>
          <a:lstStyle/>
          <a:p>
            <a:pPr>
              <a:spcAft>
                <a:spcPts val="800"/>
              </a:spcAft>
              <a:defRPr sz="1600" b="1">
                <a:solidFill>
                  <a:srgbClr val="78190A"/>
                </a:solidFill>
              </a:defRPr>
            </a:pPr>
            <a:r>
              <a:t>Category &amp; Tag</a:t>
            </a:r>
          </a:p>
          <a:p>
            <a:pPr>
              <a:defRPr sz="1200">
                <a:solidFill>
                  <a:srgbClr val="231F20"/>
                </a:solidFill>
              </a:defRPr>
            </a:pPr>
            <a:r>
              <a:t>Klasifikasi daerah nusantara (Padang, Sunda) dan karakteristik masakan.</a:t>
            </a:r>
          </a:p>
        </p:txBody>
      </p:sp>
      <p:sp>
        <p:nvSpPr>
          <p:cNvPr id="9" name="Rounded Rectangle 8"/>
          <p:cNvSpPr/>
          <p:nvPr/>
        </p:nvSpPr>
        <p:spPr>
          <a:xfrm>
            <a:off x="8010144"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1691640"/>
            <a:ext cx="2999232" cy="1828800"/>
          </a:xfrm>
          <a:prstGeom prst="rect">
            <a:avLst/>
          </a:prstGeom>
          <a:noFill/>
        </p:spPr>
        <p:txBody>
          <a:bodyPr wrap="square">
            <a:spAutoFit/>
          </a:bodyPr>
          <a:lstStyle/>
          <a:p>
            <a:pPr>
              <a:spcAft>
                <a:spcPts val="800"/>
              </a:spcAft>
              <a:defRPr sz="1600" b="1">
                <a:solidFill>
                  <a:srgbClr val="78190A"/>
                </a:solidFill>
              </a:defRPr>
            </a:pPr>
            <a:r>
              <a:t>Recipe (Utama)</a:t>
            </a:r>
          </a:p>
          <a:p>
            <a:pPr>
              <a:defRPr sz="1200">
                <a:solidFill>
                  <a:srgbClr val="231F20"/>
                </a:solidFill>
              </a:defRPr>
            </a:pPr>
            <a:r>
              <a:t>Menyimpan judul, slug unik, estimasi waktu masak, porsi, dan status publikasi.</a:t>
            </a:r>
          </a:p>
        </p:txBody>
      </p:sp>
      <p:sp>
        <p:nvSpPr>
          <p:cNvPr id="11" name="Rounded Rectangle 10"/>
          <p:cNvSpPr/>
          <p:nvPr/>
        </p:nvSpPr>
        <p:spPr>
          <a:xfrm>
            <a:off x="731520"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2999232" cy="1828800"/>
          </a:xfrm>
          <a:prstGeom prst="rect">
            <a:avLst/>
          </a:prstGeom>
          <a:noFill/>
        </p:spPr>
        <p:txBody>
          <a:bodyPr wrap="square">
            <a:spAutoFit/>
          </a:bodyPr>
          <a:lstStyle/>
          <a:p>
            <a:pPr>
              <a:spcAft>
                <a:spcPts val="800"/>
              </a:spcAft>
              <a:defRPr sz="1600" b="1">
                <a:solidFill>
                  <a:srgbClr val="78190A"/>
                </a:solidFill>
              </a:defRPr>
            </a:pPr>
            <a:r>
              <a:t>Ingredient &amp; Step</a:t>
            </a:r>
          </a:p>
          <a:p>
            <a:pPr>
              <a:defRPr sz="1200">
                <a:solidFill>
                  <a:srgbClr val="231F20"/>
                </a:solidFill>
              </a:defRPr>
            </a:pPr>
            <a:r>
              <a:t>Bahan masakan dengan takaran angka Decimal serta urutan langkah instruksi.</a:t>
            </a:r>
          </a:p>
        </p:txBody>
      </p:sp>
      <p:sp>
        <p:nvSpPr>
          <p:cNvPr id="13" name="Rounded Rectangle 12"/>
          <p:cNvSpPr/>
          <p:nvPr/>
        </p:nvSpPr>
        <p:spPr>
          <a:xfrm>
            <a:off x="4370832"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4114800"/>
            <a:ext cx="2999232" cy="1828800"/>
          </a:xfrm>
          <a:prstGeom prst="rect">
            <a:avLst/>
          </a:prstGeom>
          <a:noFill/>
        </p:spPr>
        <p:txBody>
          <a:bodyPr wrap="square">
            <a:spAutoFit/>
          </a:bodyPr>
          <a:lstStyle/>
          <a:p>
            <a:pPr>
              <a:spcAft>
                <a:spcPts val="800"/>
              </a:spcAft>
              <a:defRPr sz="1600" b="1">
                <a:solidFill>
                  <a:srgbClr val="78190A"/>
                </a:solidFill>
              </a:defRPr>
            </a:pPr>
            <a:r>
              <a:t>Shopping List</a:t>
            </a:r>
          </a:p>
          <a:p>
            <a:pPr>
              <a:defRPr sz="1200">
                <a:solidFill>
                  <a:srgbClr val="231F20"/>
                </a:solidFill>
              </a:defRPr>
            </a:pPr>
            <a:r>
              <a:t>Daftar belanja bahan milik pengguna dengan fitur penggabungan otomatis.</a:t>
            </a:r>
          </a:p>
        </p:txBody>
      </p:sp>
      <p:sp>
        <p:nvSpPr>
          <p:cNvPr id="15" name="Rounded Rectangle 14"/>
          <p:cNvSpPr/>
          <p:nvPr/>
        </p:nvSpPr>
        <p:spPr>
          <a:xfrm>
            <a:off x="8010144"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4114800"/>
            <a:ext cx="2999232" cy="1828800"/>
          </a:xfrm>
          <a:prstGeom prst="rect">
            <a:avLst/>
          </a:prstGeom>
          <a:noFill/>
        </p:spPr>
        <p:txBody>
          <a:bodyPr wrap="square">
            <a:spAutoFit/>
          </a:bodyPr>
          <a:lstStyle/>
          <a:p>
            <a:pPr>
              <a:spcAft>
                <a:spcPts val="800"/>
              </a:spcAft>
              <a:defRPr sz="1600" b="1">
                <a:solidFill>
                  <a:srgbClr val="78190A"/>
                </a:solidFill>
              </a:defRPr>
            </a:pPr>
            <a:r>
              <a:t>Favorite</a:t>
            </a:r>
          </a:p>
          <a:p>
            <a:pPr>
              <a:defRPr sz="1200">
                <a:solidFill>
                  <a:srgbClr val="231F20"/>
                </a:solidFill>
              </a:defRPr>
            </a:pPr>
            <a:r>
              <a:t>Menyimpan resep-resep pilihan yang disukai oleh pengguna.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07 • ROADMAP &amp; INOVASI</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Rencana Pengembangan Masa Depan (Roadmap)</a:t>
            </a:r>
          </a:p>
        </p:txBody>
      </p:sp>
      <p:sp>
        <p:nvSpPr>
          <p:cNvPr id="5" name="Rounded Rectangle 4"/>
          <p:cNvSpPr/>
          <p:nvPr/>
        </p:nvSpPr>
        <p:spPr>
          <a:xfrm>
            <a:off x="731520"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364992" cy="109728"/>
          </a:xfrm>
          <a:prstGeom prst="rect">
            <a:avLst/>
          </a:prstGeom>
          <a:solidFill>
            <a:srgbClr val="B43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2907792" cy="4206240"/>
          </a:xfrm>
          <a:prstGeom prst="rect">
            <a:avLst/>
          </a:prstGeom>
          <a:noFill/>
        </p:spPr>
        <p:txBody>
          <a:bodyPr wrap="square">
            <a:spAutoFit/>
          </a:bodyPr>
          <a:lstStyle/>
          <a:p>
            <a:pPr>
              <a:spcAft>
                <a:spcPts val="1400"/>
              </a:spcAft>
              <a:defRPr sz="1700" b="1">
                <a:solidFill>
                  <a:srgbClr val="B43214"/>
                </a:solidFill>
              </a:defRPr>
            </a:pPr>
            <a:r>
              <a:t>Tahap 1: Komunitas</a:t>
            </a:r>
          </a:p>
          <a:p>
            <a:pPr>
              <a:spcAft>
                <a:spcPts val="1000"/>
              </a:spcAft>
              <a:defRPr sz="1300">
                <a:solidFill>
                  <a:srgbClr val="231F20"/>
                </a:solidFill>
              </a:defRPr>
            </a:pPr>
            <a:r>
              <a:t>• Sistem rating bintang &amp; ulasan resep.</a:t>
            </a:r>
          </a:p>
          <a:p>
            <a:pPr>
              <a:spcAft>
                <a:spcPts val="1000"/>
              </a:spcAft>
              <a:defRPr sz="1300">
                <a:solidFill>
                  <a:srgbClr val="231F20"/>
                </a:solidFill>
              </a:defRPr>
            </a:pPr>
            <a:r>
              <a:t>• Unggah foto hasil memasak (Cooksnap).</a:t>
            </a:r>
          </a:p>
          <a:p>
            <a:pPr>
              <a:spcAft>
                <a:spcPts val="1000"/>
              </a:spcAft>
              <a:defRPr sz="1300">
                <a:solidFill>
                  <a:srgbClr val="231F20"/>
                </a:solidFill>
              </a:defRPr>
            </a:pPr>
            <a:r>
              <a:t>• Buku koleksi resep kustom pengguna.</a:t>
            </a:r>
          </a:p>
        </p:txBody>
      </p:sp>
      <p:sp>
        <p:nvSpPr>
          <p:cNvPr id="8" name="Rounded Rectangle 7"/>
          <p:cNvSpPr/>
          <p:nvPr/>
        </p:nvSpPr>
        <p:spPr>
          <a:xfrm>
            <a:off x="4407407"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7407" y="1463040"/>
            <a:ext cx="3364992" cy="109728"/>
          </a:xfrm>
          <a:prstGeom prst="rect">
            <a:avLst/>
          </a:prstGeom>
          <a:solidFill>
            <a:srgbClr val="DC6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1737360"/>
            <a:ext cx="2907792" cy="4206240"/>
          </a:xfrm>
          <a:prstGeom prst="rect">
            <a:avLst/>
          </a:prstGeom>
          <a:noFill/>
        </p:spPr>
        <p:txBody>
          <a:bodyPr wrap="square">
            <a:spAutoFit/>
          </a:bodyPr>
          <a:lstStyle/>
          <a:p>
            <a:pPr>
              <a:spcAft>
                <a:spcPts val="1400"/>
              </a:spcAft>
              <a:defRPr sz="1700" b="1">
                <a:solidFill>
                  <a:srgbClr val="DC6428"/>
                </a:solidFill>
              </a:defRPr>
            </a:pPr>
            <a:r>
              <a:t>Tahap 2: AI Smart Kitchen</a:t>
            </a:r>
          </a:p>
          <a:p>
            <a:pPr>
              <a:spcAft>
                <a:spcPts val="1000"/>
              </a:spcAft>
              <a:defRPr sz="1300">
                <a:solidFill>
                  <a:srgbClr val="231F20"/>
                </a:solidFill>
              </a:defRPr>
            </a:pPr>
            <a:r>
              <a:t>• Rekomendasi menu dari bahan kulkas.</a:t>
            </a:r>
          </a:p>
          <a:p>
            <a:pPr>
              <a:spcAft>
                <a:spcPts val="1000"/>
              </a:spcAft>
              <a:defRPr sz="1300">
                <a:solidFill>
                  <a:srgbClr val="231F20"/>
                </a:solidFill>
              </a:defRPr>
            </a:pPr>
            <a:r>
              <a:t>• Ekstraksi resep dari foto buku masak.</a:t>
            </a:r>
          </a:p>
          <a:p>
            <a:pPr>
              <a:spcAft>
                <a:spcPts val="1000"/>
              </a:spcAft>
              <a:defRPr sz="1300">
                <a:solidFill>
                  <a:srgbClr val="231F20"/>
                </a:solidFill>
              </a:defRPr>
            </a:pPr>
            <a:r>
              <a:t>• Timer memasak interaktif per langkah.</a:t>
            </a:r>
          </a:p>
        </p:txBody>
      </p:sp>
      <p:sp>
        <p:nvSpPr>
          <p:cNvPr id="11" name="Rounded Rectangle 10"/>
          <p:cNvSpPr/>
          <p:nvPr/>
        </p:nvSpPr>
        <p:spPr>
          <a:xfrm>
            <a:off x="8083296"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83296" y="1463040"/>
            <a:ext cx="3364992" cy="109728"/>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737360"/>
            <a:ext cx="2907792" cy="4206240"/>
          </a:xfrm>
          <a:prstGeom prst="rect">
            <a:avLst/>
          </a:prstGeom>
          <a:noFill/>
        </p:spPr>
        <p:txBody>
          <a:bodyPr wrap="square">
            <a:spAutoFit/>
          </a:bodyPr>
          <a:lstStyle/>
          <a:p>
            <a:pPr>
              <a:spcAft>
                <a:spcPts val="1400"/>
              </a:spcAft>
              <a:defRPr sz="1700" b="1">
                <a:solidFill>
                  <a:srgbClr val="228B22"/>
                </a:solidFill>
              </a:defRPr>
            </a:pPr>
            <a:r>
              <a:t>Tahap 3: Aksesibilitas</a:t>
            </a:r>
          </a:p>
          <a:p>
            <a:pPr>
              <a:spcAft>
                <a:spcPts val="1000"/>
              </a:spcAft>
              <a:defRPr sz="1300">
                <a:solidFill>
                  <a:srgbClr val="231F20"/>
                </a:solidFill>
              </a:defRPr>
            </a:pPr>
            <a:r>
              <a:t>• Mode offline PWA tanpa kuota internet.</a:t>
            </a:r>
          </a:p>
          <a:p>
            <a:pPr>
              <a:spcAft>
                <a:spcPts val="1000"/>
              </a:spcAft>
              <a:defRPr sz="1300">
                <a:solidFill>
                  <a:srgbClr val="231F20"/>
                </a:solidFill>
              </a:defRPr>
            </a:pPr>
            <a:r>
              <a:t>• Ekspor shopping list ke WhatsApp.</a:t>
            </a:r>
          </a:p>
          <a:p>
            <a:pPr>
              <a:spcAft>
                <a:spcPts val="1000"/>
              </a:spcAft>
              <a:defRPr sz="1300">
                <a:solidFill>
                  <a:srgbClr val="231F20"/>
                </a:solidFill>
              </a:defRPr>
            </a:pPr>
            <a:r>
              <a:t>• Dukungan multi-bahasa.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781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463040"/>
            <a:ext cx="9445752" cy="4114800"/>
          </a:xfrm>
          <a:prstGeom prst="rect">
            <a:avLst/>
          </a:prstGeom>
          <a:noFill/>
        </p:spPr>
        <p:txBody>
          <a:bodyPr wrap="square">
            <a:spAutoFit/>
          </a:bodyPr>
          <a:lstStyle/>
          <a:p>
            <a:pPr>
              <a:spcAft>
                <a:spcPts val="1600"/>
              </a:spcAft>
              <a:defRPr sz="1400" b="1">
                <a:solidFill>
                  <a:srgbClr val="F5A623"/>
                </a:solidFill>
              </a:defRPr>
            </a:pPr>
            <a:r>
              <a:t>08 • KESIMPULAN PROYEK</a:t>
            </a:r>
          </a:p>
          <a:p>
            <a:pPr>
              <a:spcAft>
                <a:spcPts val="2400"/>
              </a:spcAft>
              <a:defRPr sz="3600" b="1">
                <a:solidFill>
                  <a:srgbClr val="FFFFFF"/>
                </a:solidFill>
              </a:defRPr>
            </a:pPr>
            <a:r>
              <a:t>Kesimpulan</a:t>
            </a:r>
          </a:p>
          <a:p>
            <a:pPr>
              <a:spcAft>
                <a:spcPts val="3200"/>
              </a:spcAft>
              <a:defRPr sz="1700">
                <a:solidFill>
                  <a:srgbClr val="F5EBE1"/>
                </a:solidFill>
              </a:defRPr>
            </a:pPr>
            <a:r>
              <a:t>Dapur Nusa berhasil menghadirkan platform kuliner nusantara yang ringan, cepat, dan interaktif berkat perpaduan arsitektur DATH Stack (Django, Alpine.js, Tailwind CSS, HTMX), dilengkapi fitur cerdas seperti kalkulator porsi dinamis dan daftar belanja otomatis yang memberikan solusi praktis, efisien, serta pengalaman memasak yang menyenangkan bagi seluruh keluarga.</a:t>
            </a:r>
          </a:p>
          <a:p>
            <a:pPr>
              <a:defRPr sz="2200" b="1">
                <a:solidFill>
                  <a:srgbClr val="F5A623"/>
                </a:solidFill>
              </a:defRPr>
            </a:pPr>
            <a:r>
              <a:t>Terima Kasih! • Ada Pertanyaan?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